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7" r:id="rId3"/>
    <p:sldId id="262" r:id="rId4"/>
    <p:sldId id="263" r:id="rId5"/>
    <p:sldId id="265" r:id="rId6"/>
    <p:sldId id="408" r:id="rId7"/>
    <p:sldId id="409" r:id="rId8"/>
    <p:sldId id="411" r:id="rId9"/>
    <p:sldId id="410" r:id="rId10"/>
    <p:sldId id="412" r:id="rId11"/>
    <p:sldId id="413" r:id="rId12"/>
    <p:sldId id="414" r:id="rId13"/>
    <p:sldId id="415" r:id="rId14"/>
    <p:sldId id="416" r:id="rId15"/>
    <p:sldId id="417" r:id="rId16"/>
    <p:sldId id="419" r:id="rId17"/>
    <p:sldId id="41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C2D9"/>
    <a:srgbClr val="000000"/>
    <a:srgbClr val="89AACA"/>
    <a:srgbClr val="156082"/>
    <a:srgbClr val="224D60"/>
    <a:srgbClr val="FFFFFF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5026" autoAdjust="0"/>
  </p:normalViewPr>
  <p:slideViewPr>
    <p:cSldViewPr snapToGrid="0">
      <p:cViewPr varScale="1">
        <p:scale>
          <a:sx n="104" d="100"/>
          <a:sy n="104" d="100"/>
        </p:scale>
        <p:origin x="30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세영 김" userId="603511782385fcc9" providerId="LiveId" clId="{C94D6299-A38D-4F6D-A56D-C023B0E26000}"/>
    <pc:docChg chg="undo redo custSel addSld delSld modSld sldOrd">
      <pc:chgData name="세영 김" userId="603511782385fcc9" providerId="LiveId" clId="{C94D6299-A38D-4F6D-A56D-C023B0E26000}" dt="2026-05-13T11:23:45.318" v="16281" actId="1035"/>
      <pc:docMkLst>
        <pc:docMk/>
      </pc:docMkLst>
      <pc:sldChg chg="addSp delSp modSp add mod ord">
        <pc:chgData name="세영 김" userId="603511782385fcc9" providerId="LiveId" clId="{C94D6299-A38D-4F6D-A56D-C023B0E26000}" dt="2026-05-13T11:04:06.996" v="15902" actId="14100"/>
        <pc:sldMkLst>
          <pc:docMk/>
          <pc:sldMk cId="2820071783" sldId="330"/>
        </pc:sldMkLst>
        <pc:spChg chg="add mod">
          <ac:chgData name="세영 김" userId="603511782385fcc9" providerId="LiveId" clId="{C94D6299-A38D-4F6D-A56D-C023B0E26000}" dt="2026-05-13T11:03:54.452" v="15899" actId="14100"/>
          <ac:spMkLst>
            <pc:docMk/>
            <pc:sldMk cId="2820071783" sldId="330"/>
            <ac:spMk id="7" creationId="{76468990-51E4-4135-F53F-46F189C6647B}"/>
          </ac:spMkLst>
        </pc:spChg>
        <pc:spChg chg="add mod">
          <ac:chgData name="세영 김" userId="603511782385fcc9" providerId="LiveId" clId="{C94D6299-A38D-4F6D-A56D-C023B0E26000}" dt="2026-05-13T11:04:06.996" v="15902" actId="14100"/>
          <ac:spMkLst>
            <pc:docMk/>
            <pc:sldMk cId="2820071783" sldId="330"/>
            <ac:spMk id="10" creationId="{28516181-E6AE-AEC2-1186-A0E816064D73}"/>
          </ac:spMkLst>
        </pc:spChg>
        <pc:spChg chg="mod">
          <ac:chgData name="세영 김" userId="603511782385fcc9" providerId="LiveId" clId="{C94D6299-A38D-4F6D-A56D-C023B0E26000}" dt="2026-05-13T11:03:28.838" v="15894" actId="113"/>
          <ac:spMkLst>
            <pc:docMk/>
            <pc:sldMk cId="2820071783" sldId="330"/>
            <ac:spMk id="11" creationId="{1F8B5CFB-B59A-31EC-4F97-FAECB5C0F79D}"/>
          </ac:spMkLst>
        </pc:spChg>
      </pc:sldChg>
      <pc:sldChg chg="modSp mod">
        <pc:chgData name="세영 김" userId="603511782385fcc9" providerId="LiveId" clId="{C94D6299-A38D-4F6D-A56D-C023B0E26000}" dt="2026-05-13T11:05:32.393" v="15903" actId="20577"/>
        <pc:sldMkLst>
          <pc:docMk/>
          <pc:sldMk cId="839860760" sldId="345"/>
        </pc:sldMkLst>
        <pc:spChg chg="mod">
          <ac:chgData name="세영 김" userId="603511782385fcc9" providerId="LiveId" clId="{C94D6299-A38D-4F6D-A56D-C023B0E26000}" dt="2026-05-13T11:05:32.393" v="15903" actId="20577"/>
          <ac:spMkLst>
            <pc:docMk/>
            <pc:sldMk cId="839860760" sldId="345"/>
            <ac:spMk id="15" creationId="{398479C7-0BEB-2C69-5739-FDEA6BABF62B}"/>
          </ac:spMkLst>
        </pc:spChg>
      </pc:sldChg>
      <pc:sldChg chg="modSp mod">
        <pc:chgData name="세영 김" userId="603511782385fcc9" providerId="LiveId" clId="{C94D6299-A38D-4F6D-A56D-C023B0E26000}" dt="2026-05-13T11:23:45.318" v="16281" actId="1035"/>
        <pc:sldMkLst>
          <pc:docMk/>
          <pc:sldMk cId="1065548042" sldId="394"/>
        </pc:sldMkLst>
        <pc:spChg chg="mod">
          <ac:chgData name="세영 김" userId="603511782385fcc9" providerId="LiveId" clId="{C94D6299-A38D-4F6D-A56D-C023B0E26000}" dt="2026-05-13T11:23:45.318" v="16281" actId="1035"/>
          <ac:spMkLst>
            <pc:docMk/>
            <pc:sldMk cId="1065548042" sldId="394"/>
            <ac:spMk id="7" creationId="{432E7456-C827-4B79-7446-B07BB409A4D1}"/>
          </ac:spMkLst>
        </pc:spChg>
        <pc:spChg chg="mod">
          <ac:chgData name="세영 김" userId="603511782385fcc9" providerId="LiveId" clId="{C94D6299-A38D-4F6D-A56D-C023B0E26000}" dt="2026-05-13T11:23:36.785" v="16273" actId="2710"/>
          <ac:spMkLst>
            <pc:docMk/>
            <pc:sldMk cId="1065548042" sldId="394"/>
            <ac:spMk id="14" creationId="{348449BF-4317-7004-CF3A-15180AB3C6E5}"/>
          </ac:spMkLst>
        </pc:spChg>
      </pc:sldChg>
      <pc:sldChg chg="modSp mod">
        <pc:chgData name="세영 김" userId="603511782385fcc9" providerId="LiveId" clId="{C94D6299-A38D-4F6D-A56D-C023B0E26000}" dt="2026-05-13T11:23:11.856" v="16270" actId="1036"/>
        <pc:sldMkLst>
          <pc:docMk/>
          <pc:sldMk cId="240750307" sldId="395"/>
        </pc:sldMkLst>
        <pc:spChg chg="mod">
          <ac:chgData name="세영 김" userId="603511782385fcc9" providerId="LiveId" clId="{C94D6299-A38D-4F6D-A56D-C023B0E26000}" dt="2026-05-13T11:23:04.594" v="16262" actId="1037"/>
          <ac:spMkLst>
            <pc:docMk/>
            <pc:sldMk cId="240750307" sldId="395"/>
            <ac:spMk id="7" creationId="{7536ACFB-170C-E53A-5FEE-DBB37A429CAA}"/>
          </ac:spMkLst>
        </pc:spChg>
        <pc:spChg chg="mod">
          <ac:chgData name="세영 김" userId="603511782385fcc9" providerId="LiveId" clId="{C94D6299-A38D-4F6D-A56D-C023B0E26000}" dt="2026-05-13T11:23:11.856" v="16270" actId="1036"/>
          <ac:spMkLst>
            <pc:docMk/>
            <pc:sldMk cId="240750307" sldId="395"/>
            <ac:spMk id="10" creationId="{C239EA16-706B-8792-C514-18DE6F4B698B}"/>
          </ac:spMkLst>
        </pc:spChg>
        <pc:spChg chg="mod">
          <ac:chgData name="세영 김" userId="603511782385fcc9" providerId="LiveId" clId="{C94D6299-A38D-4F6D-A56D-C023B0E26000}" dt="2026-05-13T11:22:57.293" v="16259" actId="20577"/>
          <ac:spMkLst>
            <pc:docMk/>
            <pc:sldMk cId="240750307" sldId="395"/>
            <ac:spMk id="14" creationId="{B486EE44-7D96-702B-C995-246B8B45D64F}"/>
          </ac:spMkLst>
        </pc:spChg>
      </pc:sldChg>
      <pc:sldChg chg="addSp modSp mod">
        <pc:chgData name="세영 김" userId="603511782385fcc9" providerId="LiveId" clId="{C94D6299-A38D-4F6D-A56D-C023B0E26000}" dt="2026-05-13T11:08:49.677" v="16256" actId="113"/>
        <pc:sldMkLst>
          <pc:docMk/>
          <pc:sldMk cId="2658790383" sldId="406"/>
        </pc:sldMkLst>
        <pc:spChg chg="add mod">
          <ac:chgData name="세영 김" userId="603511782385fcc9" providerId="LiveId" clId="{C94D6299-A38D-4F6D-A56D-C023B0E26000}" dt="2026-05-13T11:06:41.182" v="15904"/>
          <ac:spMkLst>
            <pc:docMk/>
            <pc:sldMk cId="2658790383" sldId="406"/>
            <ac:spMk id="10" creationId="{DAE492A2-1FBF-47BF-56D2-4EDB4A5D23EA}"/>
          </ac:spMkLst>
        </pc:spChg>
        <pc:spChg chg="add mod">
          <ac:chgData name="세영 김" userId="603511782385fcc9" providerId="LiveId" clId="{C94D6299-A38D-4F6D-A56D-C023B0E26000}" dt="2026-05-13T11:08:49.677" v="16256" actId="113"/>
          <ac:spMkLst>
            <pc:docMk/>
            <pc:sldMk cId="2658790383" sldId="406"/>
            <ac:spMk id="14" creationId="{6539DB22-850A-34F5-CBAD-9816094286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50FF8-0208-4234-A794-9C8523B9556E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E429D-C44A-4210-A572-A41622E6B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66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E429D-C44A-4210-A572-A41622E6B85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043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DDB1D-D73A-E82A-588E-BFB1B4A18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532584-93CE-66A5-79D4-7B3432BDB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7D9AA-5161-CA1D-41E0-B9424123B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23F0A7-1F7C-A147-6FB0-ADFCA5D1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1EB4E4-858C-D689-9189-91A7E1CB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4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1AC1A-AF5E-9A11-6CB8-EFF27C71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03349F-6009-32C4-7B0B-E90BFEDE2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94AFF7-1761-E1CA-1E16-709BEAF5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4E433-7C57-A32B-FC51-04C36C3D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F3F068-39F2-20F1-B9C2-AE101AD1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5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84D15-1835-CFF1-3871-F926B54B4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EAEF3F-D66F-413F-741D-6F8CA23C9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78E35F-FEF3-3CD9-BB35-0A432204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E31A46-5F7B-62C4-5379-74F3354C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3B6E29-0B96-EE7C-9B6F-64E399F1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36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4EB29-D3FA-67C8-3997-18F73B8E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8AC8F6-8799-9B2C-9D09-AC7B2DE6C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4436A8-2BFA-6324-382C-D8BE36401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54AB91-E573-5E10-8DCC-DE464255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435EF9-367A-EA80-A828-5B6FCEEB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D0C315-B7FF-1619-3402-569F0986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98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B2489-605A-CE72-E07A-2DDCEB6E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057402-B4E7-81EA-F182-D00599DE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A396F6-CF0B-CBFC-EB42-44743E41F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3BBFC9-1497-7F18-2494-D8127E369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3C6C94-5FA4-F3B5-DCA7-788635BD6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CD8A4B-764F-63AA-9699-6E8A7769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3E523E-48A7-D54C-938D-AB81DA39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05DCF5-8A05-AE50-CB2E-6F55511A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34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A4018-1F46-157A-F6FC-A04CBA2C8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1898F7-6386-A0B2-1DF2-6A576634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73A224-6591-8E50-8DD0-082093F2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9AC257-9A36-84FF-1E28-AC188564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24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364EEA-5F73-3A86-17BE-4E6A406C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92445E-1F4D-5D4A-5087-5285C043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E8C4C5-D0F0-46DF-40A8-E816CC3D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83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014BE-F6AC-033C-B084-DB422C878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9879B-EA9D-5B4C-48B0-5EB8CCF7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22573A-B971-5AF0-FE1B-E9CAB3C86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08133B-2BCF-2907-50A9-674A6E106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7C697F-3AAC-DD10-C224-0D923A91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A118AD-EB39-85DC-00B0-ADAFE4D1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19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46A8A7-0DAC-8B80-8B7D-D80422B8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FF584B-1D61-8A98-FDD8-2B4FB998C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E5B8D9-0536-2460-EACD-A4DAA8EC8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7CBFBB-C525-2DB1-3654-9E518B9D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A154C0-2638-75E3-148C-5BF2E4E1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E8F79A-8469-3DFD-17BB-6557EE30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56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70872A-FCF4-012E-C206-5E666D06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2B44F3-79AF-EB0B-3C2B-AA4B20B2A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70414B-3ED1-F7D7-FE68-F6BAE619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9D44B-C818-AD73-A6DB-CEE4EFA2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A7E007-6AEC-275C-A9DC-A700A7A6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68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DE7839-F5D8-7C62-5B4E-3E5C48B3F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48B540-0EB9-367F-A37F-E15097122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D86733-1DDC-4768-F059-E8DD476D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60BE3-D98C-1070-5403-52F3D24A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113A9E-1033-5EA5-2FC0-1D80F901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33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28EA6B-D951-B72F-34D9-F2CD75505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AFC1D9-E680-6912-7902-32BB3A33B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690DA1-EA6D-1B0C-FCFD-ACD2341F5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437B5-2FE4-4233-A25A-ECA50B5760F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5DFF67-4DCC-CFA8-14B0-9EDA31350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AAAA07-F1F5-7FB5-DEC5-22ED8D2A2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997D8-F50F-4ADF-963C-C6FC54E37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54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ivendata.org/competitions/57/nepal-earthquake/page/136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60299-64C7-1F03-F7E7-5E722FF7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2CE127-51D4-2EC2-15A8-79CE234F5C64}"/>
              </a:ext>
            </a:extLst>
          </p:cNvPr>
          <p:cNvSpPr txBox="1"/>
          <p:nvPr/>
        </p:nvSpPr>
        <p:spPr>
          <a:xfrm>
            <a:off x="4145787" y="970929"/>
            <a:ext cx="3900427" cy="1474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+mj-lt"/>
              </a:rPr>
              <a:t>건물 특성을 활용한 </a:t>
            </a:r>
            <a:endParaRPr lang="en-US" altLang="ko-KR" sz="3200" b="1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+mj-lt"/>
              </a:rPr>
              <a:t>지진 피해 등급 예측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7E161-9748-107B-6715-F78140073EEE}"/>
              </a:ext>
            </a:extLst>
          </p:cNvPr>
          <p:cNvSpPr txBox="1"/>
          <p:nvPr/>
        </p:nvSpPr>
        <p:spPr>
          <a:xfrm>
            <a:off x="5504747" y="3500778"/>
            <a:ext cx="1182503" cy="15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Analysis of</a:t>
            </a:r>
          </a:p>
          <a:p>
            <a:pPr algn="ctr">
              <a:lnSpc>
                <a:spcPct val="150000"/>
              </a:lnSpc>
            </a:pPr>
            <a:endParaRPr lang="en-US" altLang="ko-KR" sz="16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+mj-lt"/>
              </a:rPr>
              <a:t>팀</a:t>
            </a:r>
          </a:p>
          <a:p>
            <a:pPr algn="ctr">
              <a:lnSpc>
                <a:spcPct val="150000"/>
              </a:lnSpc>
            </a:pPr>
            <a:endParaRPr lang="ko-KR" altLang="en-US" sz="16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6323F3B-6145-87EB-BA95-A4A43C3D4039}"/>
              </a:ext>
            </a:extLst>
          </p:cNvPr>
          <p:cNvCxnSpPr>
            <a:cxnSpLocks/>
          </p:cNvCxnSpPr>
          <p:nvPr/>
        </p:nvCxnSpPr>
        <p:spPr>
          <a:xfrm>
            <a:off x="0" y="3457074"/>
            <a:ext cx="1229647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EB87B49-24C9-5662-4786-02D1517B9C88}"/>
              </a:ext>
            </a:extLst>
          </p:cNvPr>
          <p:cNvSpPr txBox="1"/>
          <p:nvPr/>
        </p:nvSpPr>
        <p:spPr>
          <a:xfrm>
            <a:off x="0" y="0"/>
            <a:ext cx="1663430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2026.10.19</a:t>
            </a:r>
            <a:endParaRPr lang="ko-KR" altLang="en-US" sz="16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80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4A8DCC8-A86A-E2C0-E00A-01772AF210D5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BDD83B6-BC93-ABDE-FBA3-068FA099C35E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9A9F11-0A7B-D830-0566-9201F349FD57}"/>
              </a:ext>
            </a:extLst>
          </p:cNvPr>
          <p:cNvSpPr txBox="1"/>
          <p:nvPr/>
        </p:nvSpPr>
        <p:spPr>
          <a:xfrm>
            <a:off x="1229707" y="7218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rgbClr val="224D60"/>
                </a:solidFill>
                <a:latin typeface="맑은고딕"/>
                <a:ea typeface="+mj-ea"/>
              </a:rPr>
              <a:t>목차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7B9417-8F59-1D2C-62EB-85D951BF8BDA}"/>
              </a:ext>
            </a:extLst>
          </p:cNvPr>
          <p:cNvSpPr txBox="1"/>
          <p:nvPr/>
        </p:nvSpPr>
        <p:spPr>
          <a:xfrm>
            <a:off x="1856247" y="2362199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224D60"/>
                </a:solidFill>
                <a:latin typeface="맑은고딕"/>
              </a:rPr>
              <a:t>1</a:t>
            </a:r>
            <a:endParaRPr lang="ko-KR" altLang="en-US" sz="2000" b="1" dirty="0">
              <a:solidFill>
                <a:srgbClr val="224D60"/>
              </a:solidFill>
              <a:latin typeface="맑은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A0AE19-7CCA-A763-47C9-97DCE63A7CEB}"/>
              </a:ext>
            </a:extLst>
          </p:cNvPr>
          <p:cNvSpPr txBox="1"/>
          <p:nvPr/>
        </p:nvSpPr>
        <p:spPr>
          <a:xfrm>
            <a:off x="2585007" y="230064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224D60"/>
                </a:solidFill>
                <a:latin typeface="맑은고딕"/>
              </a:rPr>
              <a:t>서론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CD16D5-8F14-5C63-D138-BC9DF9A06319}"/>
              </a:ext>
            </a:extLst>
          </p:cNvPr>
          <p:cNvSpPr txBox="1"/>
          <p:nvPr/>
        </p:nvSpPr>
        <p:spPr>
          <a:xfrm>
            <a:off x="1856247" y="343841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224D60"/>
                </a:solidFill>
                <a:latin typeface="맑은고딕"/>
              </a:rPr>
              <a:t>2</a:t>
            </a:r>
            <a:endParaRPr lang="ko-KR" altLang="en-US" sz="2000" b="1" dirty="0">
              <a:solidFill>
                <a:srgbClr val="224D60"/>
              </a:solidFill>
              <a:latin typeface="맑은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C14508-0057-859F-21AD-C765C4900A6F}"/>
              </a:ext>
            </a:extLst>
          </p:cNvPr>
          <p:cNvSpPr txBox="1"/>
          <p:nvPr/>
        </p:nvSpPr>
        <p:spPr>
          <a:xfrm>
            <a:off x="2585007" y="3376862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224D60"/>
                </a:solidFill>
                <a:latin typeface="맑은고딕"/>
              </a:rPr>
              <a:t>이론적 배경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9E9CF1-505F-7443-B7FC-5C837738637C}"/>
              </a:ext>
            </a:extLst>
          </p:cNvPr>
          <p:cNvSpPr txBox="1"/>
          <p:nvPr/>
        </p:nvSpPr>
        <p:spPr>
          <a:xfrm>
            <a:off x="1856247" y="451463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224D60"/>
                </a:solidFill>
                <a:latin typeface="맑은고딕"/>
              </a:rPr>
              <a:t>3</a:t>
            </a:r>
            <a:endParaRPr lang="ko-KR" altLang="en-US" sz="2000" b="1" dirty="0">
              <a:solidFill>
                <a:srgbClr val="224D60"/>
              </a:solidFill>
              <a:latin typeface="맑은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048BB6-1A1E-493D-0223-2847BEB307F5}"/>
              </a:ext>
            </a:extLst>
          </p:cNvPr>
          <p:cNvSpPr txBox="1"/>
          <p:nvPr/>
        </p:nvSpPr>
        <p:spPr>
          <a:xfrm>
            <a:off x="2585007" y="445308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224D60"/>
                </a:solidFill>
                <a:latin typeface="맑은고딕"/>
              </a:rPr>
              <a:t>연구방법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82B8FD-E6C9-C3D5-431D-5C2A7C5FF496}"/>
              </a:ext>
            </a:extLst>
          </p:cNvPr>
          <p:cNvSpPr txBox="1"/>
          <p:nvPr/>
        </p:nvSpPr>
        <p:spPr>
          <a:xfrm>
            <a:off x="7034316" y="2357026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224D60"/>
                </a:solidFill>
                <a:latin typeface="맑은고딕"/>
              </a:rPr>
              <a:t>4</a:t>
            </a:r>
            <a:endParaRPr lang="ko-KR" altLang="en-US" sz="2000" b="1" dirty="0">
              <a:solidFill>
                <a:srgbClr val="224D60"/>
              </a:solidFill>
              <a:latin typeface="맑은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E79B0F-A20D-9A43-9F66-7F6B6E3A2C0B}"/>
              </a:ext>
            </a:extLst>
          </p:cNvPr>
          <p:cNvSpPr txBox="1"/>
          <p:nvPr/>
        </p:nvSpPr>
        <p:spPr>
          <a:xfrm>
            <a:off x="2585007" y="986190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224D60"/>
                </a:solidFill>
                <a:latin typeface="맑은고딕"/>
              </a:rPr>
              <a:t>table of contents</a:t>
            </a:r>
            <a:endParaRPr lang="ko-KR" altLang="en-US" dirty="0">
              <a:solidFill>
                <a:srgbClr val="224D60"/>
              </a:solidFill>
              <a:latin typeface="맑은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0AC9E5-7CFB-649B-4AF1-2EC0B3941191}"/>
              </a:ext>
            </a:extLst>
          </p:cNvPr>
          <p:cNvSpPr txBox="1"/>
          <p:nvPr/>
        </p:nvSpPr>
        <p:spPr>
          <a:xfrm>
            <a:off x="7763076" y="223391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224D60"/>
                </a:solidFill>
                <a:latin typeface="맑은고딕"/>
              </a:rPr>
              <a:t>연구결과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8029E-FC63-AF2D-7BEA-6BBEC1A789D1}"/>
              </a:ext>
            </a:extLst>
          </p:cNvPr>
          <p:cNvSpPr txBox="1"/>
          <p:nvPr/>
        </p:nvSpPr>
        <p:spPr>
          <a:xfrm>
            <a:off x="7034316" y="338757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224D60"/>
                </a:solidFill>
                <a:latin typeface="맑은고딕"/>
              </a:rPr>
              <a:t>5</a:t>
            </a:r>
            <a:endParaRPr lang="ko-KR" altLang="en-US" sz="2000" b="1" dirty="0">
              <a:solidFill>
                <a:srgbClr val="224D60"/>
              </a:solidFill>
              <a:latin typeface="맑은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3AE0E-5E10-09CF-5AA7-777FDF2DA2EE}"/>
              </a:ext>
            </a:extLst>
          </p:cNvPr>
          <p:cNvSpPr txBox="1"/>
          <p:nvPr/>
        </p:nvSpPr>
        <p:spPr>
          <a:xfrm>
            <a:off x="7763076" y="326446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224D60"/>
                </a:solidFill>
                <a:latin typeface="맑은고딕"/>
              </a:rPr>
              <a:t>논의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7D369-2541-F105-A7D9-360F4994D644}"/>
              </a:ext>
            </a:extLst>
          </p:cNvPr>
          <p:cNvSpPr txBox="1"/>
          <p:nvPr/>
        </p:nvSpPr>
        <p:spPr>
          <a:xfrm>
            <a:off x="7034316" y="451463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224D60"/>
                </a:solidFill>
                <a:latin typeface="맑은고딕"/>
              </a:rPr>
              <a:t>6</a:t>
            </a:r>
            <a:endParaRPr lang="ko-KR" altLang="en-US" sz="2000" b="1" dirty="0">
              <a:solidFill>
                <a:srgbClr val="224D60"/>
              </a:solidFill>
              <a:latin typeface="맑은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0F065-98B3-F754-3958-973EEE5E7498}"/>
              </a:ext>
            </a:extLst>
          </p:cNvPr>
          <p:cNvSpPr txBox="1"/>
          <p:nvPr/>
        </p:nvSpPr>
        <p:spPr>
          <a:xfrm>
            <a:off x="7763076" y="4391525"/>
            <a:ext cx="2233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224D60"/>
                </a:solidFill>
                <a:latin typeface="맑은고딕"/>
              </a:rPr>
              <a:t>결론 및 제언</a:t>
            </a:r>
          </a:p>
        </p:txBody>
      </p:sp>
    </p:spTree>
    <p:extLst>
      <p:ext uri="{BB962C8B-B14F-4D97-AF65-F5344CB8AC3E}">
        <p14:creationId xmlns:p14="http://schemas.microsoft.com/office/powerpoint/2010/main" val="104060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59E4-E5EF-3D34-EBBC-0F77DF5E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23B33E89-6844-6D1C-8FF9-11F9BC28129E}"/>
              </a:ext>
            </a:extLst>
          </p:cNvPr>
          <p:cNvGrpSpPr/>
          <p:nvPr/>
        </p:nvGrpSpPr>
        <p:grpSpPr>
          <a:xfrm>
            <a:off x="934227" y="650484"/>
            <a:ext cx="10677505" cy="5361696"/>
            <a:chOff x="934227" y="796404"/>
            <a:chExt cx="10677505" cy="53616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46C7D18-E384-B676-7D20-70BBB3D9F265}"/>
                </a:ext>
              </a:extLst>
            </p:cNvPr>
            <p:cNvSpPr txBox="1"/>
            <p:nvPr/>
          </p:nvSpPr>
          <p:spPr>
            <a:xfrm>
              <a:off x="934227" y="2050757"/>
              <a:ext cx="10677505" cy="4107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배경 및 목적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/>
                <a:t>2015</a:t>
              </a:r>
              <a:r>
                <a:rPr lang="ko-KR" altLang="en-US" sz="1600" dirty="0"/>
                <a:t>년 </a:t>
              </a:r>
              <a:r>
                <a:rPr lang="en-US" altLang="ko-KR" sz="1600" dirty="0"/>
                <a:t>4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25</a:t>
              </a:r>
              <a:r>
                <a:rPr lang="ko-KR" altLang="en-US" sz="1600" dirty="0"/>
                <a:t>일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네팔 카트만두 북서쪽에서 규모 </a:t>
              </a:r>
              <a:r>
                <a:rPr lang="en-US" altLang="ko-KR" sz="1600" dirty="0"/>
                <a:t>7.8</a:t>
              </a:r>
              <a:r>
                <a:rPr lang="ko-KR" altLang="en-US" sz="1600" dirty="0"/>
                <a:t>의 강진이 발생하였다</a:t>
              </a:r>
              <a:r>
                <a:rPr lang="en-US" altLang="ko-KR" sz="1600" dirty="0"/>
                <a:t>. </a:t>
              </a:r>
              <a:r>
                <a:rPr lang="ko-KR" altLang="en-US" sz="1600" dirty="0"/>
                <a:t>이 지진은 네팔뿐만 아니라 인접국인 인도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중국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방글라데시에도 영향을 미쳤으며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약 </a:t>
              </a:r>
              <a:r>
                <a:rPr lang="en-US" altLang="ko-KR" sz="1600" dirty="0"/>
                <a:t>9,000</a:t>
              </a:r>
              <a:r>
                <a:rPr lang="ko-KR" altLang="en-US" sz="1600" dirty="0"/>
                <a:t>명의 사망자와 </a:t>
              </a:r>
              <a:r>
                <a:rPr lang="en-US" altLang="ko-KR" sz="1600" dirty="0"/>
                <a:t>2</a:t>
              </a:r>
              <a:r>
                <a:rPr lang="ko-KR" altLang="en-US" sz="1600" dirty="0"/>
                <a:t>만 명 이상의 부상자가 발생하는 등 막대한 인명 피해가 발생되었다</a:t>
              </a:r>
              <a:r>
                <a:rPr lang="en-US" altLang="ko-KR" sz="1600" dirty="0"/>
                <a:t>. </a:t>
              </a:r>
              <a:r>
                <a:rPr lang="ko-KR" altLang="en-US" sz="1600" dirty="0"/>
                <a:t>이후 </a:t>
              </a:r>
              <a:r>
                <a:rPr lang="en-US" altLang="ko-KR" sz="1600" dirty="0"/>
                <a:t>5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12</a:t>
              </a:r>
              <a:r>
                <a:rPr lang="ko-KR" altLang="en-US" sz="1600" dirty="0"/>
                <a:t>일에는 규모 </a:t>
              </a:r>
              <a:r>
                <a:rPr lang="en-US" altLang="ko-KR" sz="1600" dirty="0"/>
                <a:t>7.3</a:t>
              </a:r>
              <a:r>
                <a:rPr lang="ko-KR" altLang="en-US" sz="1600" dirty="0"/>
                <a:t>의 강력한 여진이 발생하여 피해가 더 가중되었고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주택과 문화재는 상당수로 붕괴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파괴되었다</a:t>
              </a:r>
              <a:r>
                <a:rPr lang="en-US" altLang="ko-KR" sz="1600" dirty="0"/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특히 네팔의 피해 원인 중 하나로 대부분의 건물이 </a:t>
              </a:r>
              <a:r>
                <a:rPr lang="ko-KR" altLang="en-US" sz="1600" dirty="0" err="1"/>
                <a:t>흙벽돌</a:t>
              </a:r>
              <a:r>
                <a:rPr lang="ko-KR" altLang="en-US" sz="1600" dirty="0"/>
                <a:t> 또는 돌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진흙을 사용하여 건설되었기 때문에 내진설계가 부족했다는 점을 지적한다</a:t>
              </a:r>
              <a:r>
                <a:rPr lang="en-US" altLang="ko-KR" sz="1600" dirty="0"/>
                <a:t>. </a:t>
              </a:r>
              <a:r>
                <a:rPr lang="ko-KR" altLang="en-US" sz="1600" dirty="0"/>
                <a:t>따라서 지진으로 인한 건물의 피해 정도는 지진의 규모뿐만 아니라 건물의 위치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구조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건축 재료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노후도 등 다양한 특성과 관련이 있을 수 있다</a:t>
              </a:r>
              <a:r>
                <a:rPr lang="en-US" altLang="ko-KR" sz="1600" dirty="0"/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이에 본 목적은 </a:t>
              </a:r>
              <a:r>
                <a:rPr lang="en-US" altLang="ko-KR" sz="1600" dirty="0"/>
                <a:t>2015</a:t>
              </a:r>
              <a:r>
                <a:rPr lang="ko-KR" altLang="en-US" sz="1600" dirty="0"/>
                <a:t>년 네팔 대지진 당시 수집된 건물의 위치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구조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건축 재료 및 기타 건물 특성 데이터를 활용하여 건물의 지진 피해 등급을 예측하고자 한다</a:t>
              </a:r>
              <a:r>
                <a:rPr lang="en-US" altLang="ko-KR" sz="1600" dirty="0"/>
                <a:t>. </a:t>
              </a:r>
              <a:r>
                <a:rPr lang="ko-KR" altLang="en-US" sz="1600" dirty="0"/>
                <a:t>또한 지진 피해에 영향을 미치는 주요 요인을 파악하며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향후 지진 발생 시 피해 위험이 높은 건물을 사전에 식별하고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내진 보강 및 재난 예방 대책을 위한 건물의 우선순위를</a:t>
              </a:r>
              <a:endParaRPr lang="ko-KR" altLang="en-US" sz="1600" b="1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59C190B-1E85-D3D6-EF55-F53586A1E43D}"/>
                </a:ext>
              </a:extLst>
            </p:cNvPr>
            <p:cNvSpPr/>
            <p:nvPr/>
          </p:nvSpPr>
          <p:spPr>
            <a:xfrm>
              <a:off x="5522459" y="796404"/>
              <a:ext cx="4578355" cy="145452"/>
            </a:xfrm>
            <a:prstGeom prst="rect">
              <a:avLst/>
            </a:prstGeom>
            <a:solidFill>
              <a:srgbClr val="215F9A">
                <a:alpha val="3803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</p:grp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5379AE0-F2AC-9274-4F0C-38049E3A0D3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E70CCA3-D44C-916A-43E7-9937550DAB4A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29DC1-15DD-FAEE-38E6-22767C1322FA}"/>
              </a:ext>
            </a:extLst>
          </p:cNvPr>
          <p:cNvSpPr txBox="1"/>
          <p:nvPr/>
        </p:nvSpPr>
        <p:spPr>
          <a:xfrm>
            <a:off x="1163052" y="272716"/>
            <a:ext cx="2830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연구의 필요성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0F9E74-51BD-FB54-06CD-0326D55A1D8A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43257B45-7C94-B9FB-E701-12B4CF072B25}"/>
              </a:ext>
            </a:extLst>
          </p:cNvPr>
          <p:cNvGrpSpPr/>
          <p:nvPr/>
        </p:nvGrpSpPr>
        <p:grpSpPr>
          <a:xfrm>
            <a:off x="495596" y="1035552"/>
            <a:ext cx="4481649" cy="523219"/>
            <a:chOff x="497204" y="908230"/>
            <a:chExt cx="4781642" cy="61555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BDA8E2E-278B-ACB2-5C0D-9829D422F950}"/>
                </a:ext>
              </a:extLst>
            </p:cNvPr>
            <p:cNvSpPr/>
            <p:nvPr/>
          </p:nvSpPr>
          <p:spPr>
            <a:xfrm>
              <a:off x="497204" y="908230"/>
              <a:ext cx="4781642" cy="615552"/>
            </a:xfrm>
            <a:prstGeom prst="rect">
              <a:avLst/>
            </a:prstGeom>
            <a:solidFill>
              <a:srgbClr val="224D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33E400-44CE-CF1E-C790-E69C62E2AFB0}"/>
                </a:ext>
              </a:extLst>
            </p:cNvPr>
            <p:cNvSpPr txBox="1"/>
            <p:nvPr/>
          </p:nvSpPr>
          <p:spPr>
            <a:xfrm>
              <a:off x="1444360" y="1031340"/>
              <a:ext cx="28873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+mj-lt"/>
                </a:rPr>
                <a:t>현대사회의 신체활동 부족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67DDC89-D1AA-4F8F-7C4E-38C40E87C4C6}"/>
              </a:ext>
            </a:extLst>
          </p:cNvPr>
          <p:cNvSpPr txBox="1"/>
          <p:nvPr/>
        </p:nvSpPr>
        <p:spPr>
          <a:xfrm rot="10800000" flipV="1">
            <a:off x="8524068" y="6334818"/>
            <a:ext cx="4113905" cy="402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128270" algn="just" fontAlgn="base" latinLnBrk="1">
              <a:lnSpc>
                <a:spcPct val="200000"/>
              </a:lnSpc>
              <a:buNone/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ea typeface="한양신명조"/>
              </a:rPr>
              <a:t>(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ea typeface="한양신명조"/>
              </a:rPr>
              <a:t>양윤준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ea typeface="한양신명조"/>
              </a:rPr>
              <a:t>, 2022;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ea typeface="한양신명조"/>
              </a:rPr>
              <a:t>질병관리청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ea typeface="한양신명조"/>
              </a:rPr>
              <a:t>, 2022; </a:t>
            </a:r>
            <a:r>
              <a:rPr lang="en-US" altLang="ko-KR" sz="1200" kern="0" dirty="0">
                <a:solidFill>
                  <a:srgbClr val="000000"/>
                </a:solidFill>
                <a:ea typeface="한양신명조"/>
              </a:rPr>
              <a:t>Han et al., 2024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ea typeface="한양신명조"/>
              </a:rPr>
              <a:t>)</a:t>
            </a:r>
            <a:endParaRPr lang="en-US" altLang="ko-KR" sz="1200" kern="0" spc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74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010EE-6739-C449-557D-98C15F46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48672B-C3AC-9DBB-FDC0-3500610EC851}"/>
              </a:ext>
            </a:extLst>
          </p:cNvPr>
          <p:cNvSpPr txBox="1"/>
          <p:nvPr/>
        </p:nvSpPr>
        <p:spPr>
          <a:xfrm>
            <a:off x="934227" y="1904837"/>
            <a:ext cx="1067750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문제 정의</a:t>
            </a:r>
            <a:endParaRPr lang="en-US" altLang="ko-KR" sz="1600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문제 유형 </a:t>
            </a:r>
            <a:r>
              <a:rPr lang="en-US" altLang="ko-KR" sz="1600" dirty="0"/>
              <a:t>:</a:t>
            </a:r>
            <a:r>
              <a:rPr lang="ko-KR" altLang="en-US" sz="1600" dirty="0"/>
              <a:t> 분류</a:t>
            </a:r>
            <a:endParaRPr lang="en-US" altLang="ko-KR" sz="1600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분석 단위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52B4949-9C25-67E8-0A73-0719E54B1D6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9078B74-25EA-52A5-B30B-4DAF18FDD48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1A5B1-5B81-A2DC-7C94-5B3F66FEAF2A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문제 정의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473FBC5-A6FB-BA8C-82F9-8757EB10FD0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B84830-FAB3-F372-9038-32F182C02190}"/>
              </a:ext>
            </a:extLst>
          </p:cNvPr>
          <p:cNvSpPr txBox="1"/>
          <p:nvPr/>
        </p:nvSpPr>
        <p:spPr>
          <a:xfrm>
            <a:off x="7268900" y="6334818"/>
            <a:ext cx="5279912" cy="402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8270" fontAlgn="base">
              <a:lnSpc>
                <a:spcPct val="20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ea typeface="한양신명조"/>
              </a:rPr>
              <a:t>(</a:t>
            </a:r>
            <a:r>
              <a:rPr lang="ko-KR" altLang="en-US" sz="1200" dirty="0"/>
              <a:t>문화체육관광부</a:t>
            </a:r>
            <a:r>
              <a:rPr lang="en-US" altLang="ko-KR" sz="1200" dirty="0"/>
              <a:t>, 2012</a:t>
            </a:r>
            <a:r>
              <a:rPr lang="ko-KR" altLang="en-US" sz="1200" dirty="0"/>
              <a:t>；최연희</a:t>
            </a:r>
            <a:r>
              <a:rPr lang="en-US" altLang="ko-KR" sz="1200" dirty="0"/>
              <a:t>, </a:t>
            </a:r>
            <a:r>
              <a:rPr lang="ko-KR" altLang="en-US" sz="1200" dirty="0"/>
              <a:t>김나영</a:t>
            </a:r>
            <a:r>
              <a:rPr lang="en-US" altLang="ko-KR" sz="1200" dirty="0"/>
              <a:t>, 2013;</a:t>
            </a:r>
            <a:r>
              <a:rPr lang="ko-KR" altLang="en-US" sz="1200" dirty="0"/>
              <a:t> </a:t>
            </a:r>
            <a:r>
              <a:rPr lang="en-US" altLang="ko-KR" sz="1200" dirty="0"/>
              <a:t>Minghao</a:t>
            </a:r>
            <a:r>
              <a:rPr lang="ko-KR" altLang="en-US" sz="1200" dirty="0"/>
              <a:t> </a:t>
            </a:r>
            <a:r>
              <a:rPr lang="en-US" altLang="ko-KR" sz="1200" dirty="0"/>
              <a:t>et</a:t>
            </a:r>
            <a:r>
              <a:rPr lang="ko-KR" altLang="en-US" sz="1200" dirty="0"/>
              <a:t> </a:t>
            </a:r>
            <a:r>
              <a:rPr lang="en-US" altLang="ko-KR" sz="1200" dirty="0"/>
              <a:t>al,</a:t>
            </a:r>
            <a:r>
              <a:rPr lang="ko-KR" altLang="en-US" sz="1200" dirty="0"/>
              <a:t> </a:t>
            </a:r>
            <a:r>
              <a:rPr lang="en-US" altLang="ko-KR" sz="1200" dirty="0"/>
              <a:t>2025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ea typeface="한양신명조"/>
              </a:rPr>
              <a:t>)</a:t>
            </a:r>
            <a:endParaRPr lang="en-US" altLang="ko-KR" sz="1200" kern="0" spc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239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A386-B730-BC01-0984-3AEB43E0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F3B66B1-F833-A9D9-B447-4F9D63BDC31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BCEFB98-8DFE-1718-0662-4AA831F3998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460AC-7244-EA78-85CC-783B15AF7477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구조 파악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87723EA-72EF-4D74-6FC4-5AA41B42BB7A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13261A4-816D-426D-B929-2B7763755207}"/>
              </a:ext>
            </a:extLst>
          </p:cNvPr>
          <p:cNvSpPr txBox="1"/>
          <p:nvPr/>
        </p:nvSpPr>
        <p:spPr>
          <a:xfrm>
            <a:off x="703679" y="1455655"/>
            <a:ext cx="10941398" cy="3276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1-1)</a:t>
            </a:r>
          </a:p>
          <a:p>
            <a:pPr fontAlgn="base">
              <a:lnSpc>
                <a:spcPct val="100000"/>
              </a:lnSpc>
            </a:pP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데이터 </a:t>
            </a:r>
            <a:r>
              <a:rPr lang="ko-KR" altLang="en-US" sz="1600" b="1" dirty="0" err="1">
                <a:latin typeface="+mn-ea"/>
              </a:rPr>
              <a:t>셋명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ko-KR" sz="1600" dirty="0" err="1"/>
              <a:t>Richter’s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Predictor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Modeling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Earthquake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Damage</a:t>
            </a:r>
            <a:endParaRPr lang="en-US" altLang="ko-KR" sz="1600" dirty="0"/>
          </a:p>
          <a:p>
            <a:pPr fontAlgn="base">
              <a:lnSpc>
                <a:spcPct val="100000"/>
              </a:lnSpc>
            </a:pPr>
            <a:r>
              <a:rPr lang="en-US" altLang="ko-KR" sz="1600" dirty="0"/>
              <a:t>		(</a:t>
            </a:r>
            <a:r>
              <a:rPr lang="ko-KR" altLang="ko-KR" sz="1600" u="sng" dirty="0">
                <a:hlinkClick r:id="rId2"/>
              </a:rPr>
              <a:t>https://www.drivendata.org/competitions/57/nepal-earthquake/page/136/</a:t>
            </a:r>
            <a:r>
              <a:rPr lang="en-US" altLang="ko-KR" sz="1600" u="sng" dirty="0"/>
              <a:t>)</a:t>
            </a:r>
            <a:endParaRPr lang="en-US" altLang="ko-KR" sz="1600" dirty="0"/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데이터 출처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ko-KR" sz="1600" dirty="0" err="1"/>
              <a:t>DrivenData</a:t>
            </a:r>
            <a:r>
              <a:rPr lang="ko-KR" altLang="ko-KR" sz="1600" dirty="0"/>
              <a:t> / 네팔 지진 피해 건물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데이터 구성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ko-KR" dirty="0"/>
              <a:t>(260601, 40)</a:t>
            </a:r>
            <a:endParaRPr lang="en-US" altLang="ko-KR" dirty="0"/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분석기간 </a:t>
            </a:r>
            <a:r>
              <a:rPr lang="en-US" altLang="ko-KR" sz="1600" b="1" dirty="0">
                <a:latin typeface="+mn-ea"/>
              </a:rPr>
              <a:t>: 2015</a:t>
            </a:r>
            <a:r>
              <a:rPr lang="ko-KR" altLang="en-US" sz="1600" b="1" dirty="0">
                <a:latin typeface="+mn-ea"/>
              </a:rPr>
              <a:t>년</a:t>
            </a:r>
            <a:endParaRPr lang="en-US" altLang="ko-KR" sz="1600" b="1" dirty="0">
              <a:latin typeface="+mn-ea"/>
            </a:endParaRPr>
          </a:p>
          <a:p>
            <a:pPr fontAlgn="base">
              <a:lnSpc>
                <a:spcPct val="150000"/>
              </a:lnSpc>
            </a:pP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9338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A255F-890D-0343-1D48-C19A4660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9770043-04AF-6723-B9EC-B693B0798AA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315C16-5087-968A-3661-E3A3E2963B1D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A61C6-4EA5-7219-FA2C-0D8A9D13C8B4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구조 파악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82A4C6C-6DED-E098-98BE-2CDC6CFB50F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AB26B4-BCC9-E9CE-C5D5-AA9B637D3108}"/>
              </a:ext>
            </a:extLst>
          </p:cNvPr>
          <p:cNvSpPr txBox="1"/>
          <p:nvPr/>
        </p:nvSpPr>
        <p:spPr>
          <a:xfrm>
            <a:off x="512875" y="785275"/>
            <a:ext cx="10941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1-2)</a:t>
            </a:r>
          </a:p>
          <a:p>
            <a:pPr fontAlgn="base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데이터 개요</a:t>
            </a:r>
            <a:endParaRPr lang="en-US" altLang="ko-KR" sz="1600" b="1" dirty="0"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EDF602F-CC00-7223-364F-941BCFDC9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23100"/>
              </p:ext>
            </p:extLst>
          </p:nvPr>
        </p:nvGraphicFramePr>
        <p:xfrm>
          <a:off x="512875" y="1544054"/>
          <a:ext cx="11165670" cy="4742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1047">
                  <a:extLst>
                    <a:ext uri="{9D8B030D-6E8A-4147-A177-3AD203B41FA5}">
                      <a16:colId xmlns:a16="http://schemas.microsoft.com/office/drawing/2014/main" val="2223961521"/>
                    </a:ext>
                  </a:extLst>
                </a:gridCol>
                <a:gridCol w="1674899">
                  <a:extLst>
                    <a:ext uri="{9D8B030D-6E8A-4147-A177-3AD203B41FA5}">
                      <a16:colId xmlns:a16="http://schemas.microsoft.com/office/drawing/2014/main" val="365465296"/>
                    </a:ext>
                  </a:extLst>
                </a:gridCol>
                <a:gridCol w="3479317">
                  <a:extLst>
                    <a:ext uri="{9D8B030D-6E8A-4147-A177-3AD203B41FA5}">
                      <a16:colId xmlns:a16="http://schemas.microsoft.com/office/drawing/2014/main" val="2181620687"/>
                    </a:ext>
                  </a:extLst>
                </a:gridCol>
                <a:gridCol w="2132284">
                  <a:extLst>
                    <a:ext uri="{9D8B030D-6E8A-4147-A177-3AD203B41FA5}">
                      <a16:colId xmlns:a16="http://schemas.microsoft.com/office/drawing/2014/main" val="2649122956"/>
                    </a:ext>
                  </a:extLst>
                </a:gridCol>
                <a:gridCol w="1458123">
                  <a:extLst>
                    <a:ext uri="{9D8B030D-6E8A-4147-A177-3AD203B41FA5}">
                      <a16:colId xmlns:a16="http://schemas.microsoft.com/office/drawing/2014/main" val="3033518790"/>
                    </a:ext>
                  </a:extLst>
                </a:gridCol>
              </a:tblGrid>
              <a:tr h="4133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데이터 타입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정의</a:t>
                      </a:r>
                      <a:endParaRPr lang="en-US" altLang="ko-KR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실제 </a:t>
                      </a: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관측값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범위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고유값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개수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13401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building_id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식별자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건물별 고유 무작위 ID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 ~ 1052934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260,601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57159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geo_level_1_id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범주형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가장 넓은 지리 구역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 ~ 30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39417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geo_level_2_id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범주형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2단계 지리 구역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 ~ 1427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1,414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2058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geo_level_3_id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범주형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가장 세부적인 지리 구역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 ~ 12567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11,595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52571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count_floors_pre_eq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수치형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지진 발생 전 건물 층수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1, 2, 3, 4, 5, 6, 7, 8, 9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96813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age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수치형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건물의 경과 연수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 ~ 995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54996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area_percentage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수치형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건물 바닥 점유면적의 정규화 값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 ~ 100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52512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height_percentage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수치형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건물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높이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관련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정규화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값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 ~ 32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4077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land_surface_condition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object / 명목형 문자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건물이 위치한 지면 상태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93557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foundation_type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object / 명목형 문자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건물 기초의 종류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669723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roof_type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object / 명목형 문자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건물 지붕의 종류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83431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ground_floor_type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object / 명목형 문자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지상 최하층의 바닥 종류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282360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other_floor_type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object / 명목형 문자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지상 최하층 위 층의 구조 종류. 지붕 제외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275348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position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object / 명목형 문자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건물의 위치를 나타내는 범주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99629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plan_configuration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object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/ 명목형 문자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건물 평면의 구성 유형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c,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59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47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6172-3158-29F6-1E9E-03318CA3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D095B87-528B-F06F-A12B-83F08B4336F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73174C8-C720-7188-ABCF-03E7ABF35A7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E410B-F9FE-4084-73B7-08DEE4F8A6D6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구조 파악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4492746-ABBD-53A8-2B52-FB66C8A550F6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60C0B6-563D-A029-1400-EC0D959A2007}"/>
              </a:ext>
            </a:extLst>
          </p:cNvPr>
          <p:cNvSpPr txBox="1"/>
          <p:nvPr/>
        </p:nvSpPr>
        <p:spPr>
          <a:xfrm>
            <a:off x="512875" y="785275"/>
            <a:ext cx="10941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1-2)</a:t>
            </a:r>
          </a:p>
          <a:p>
            <a:pPr fontAlgn="base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데이터 개요</a:t>
            </a:r>
            <a:endParaRPr lang="en-US" altLang="ko-KR" sz="1600" b="1" dirty="0"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4F64FA3-C06A-CCDC-513D-C4F4D8C86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370344"/>
              </p:ext>
            </p:extLst>
          </p:nvPr>
        </p:nvGraphicFramePr>
        <p:xfrm>
          <a:off x="439232" y="1544055"/>
          <a:ext cx="11637048" cy="44541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2425">
                  <a:extLst>
                    <a:ext uri="{9D8B030D-6E8A-4147-A177-3AD203B41FA5}">
                      <a16:colId xmlns:a16="http://schemas.microsoft.com/office/drawing/2014/main" val="2223961521"/>
                    </a:ext>
                  </a:extLst>
                </a:gridCol>
                <a:gridCol w="1657173">
                  <a:extLst>
                    <a:ext uri="{9D8B030D-6E8A-4147-A177-3AD203B41FA5}">
                      <a16:colId xmlns:a16="http://schemas.microsoft.com/office/drawing/2014/main" val="365465296"/>
                    </a:ext>
                  </a:extLst>
                </a:gridCol>
                <a:gridCol w="3497043">
                  <a:extLst>
                    <a:ext uri="{9D8B030D-6E8A-4147-A177-3AD203B41FA5}">
                      <a16:colId xmlns:a16="http://schemas.microsoft.com/office/drawing/2014/main" val="2181620687"/>
                    </a:ext>
                  </a:extLst>
                </a:gridCol>
                <a:gridCol w="2132284">
                  <a:extLst>
                    <a:ext uri="{9D8B030D-6E8A-4147-A177-3AD203B41FA5}">
                      <a16:colId xmlns:a16="http://schemas.microsoft.com/office/drawing/2014/main" val="2649122956"/>
                    </a:ext>
                  </a:extLst>
                </a:gridCol>
                <a:gridCol w="1458123">
                  <a:extLst>
                    <a:ext uri="{9D8B030D-6E8A-4147-A177-3AD203B41FA5}">
                      <a16:colId xmlns:a16="http://schemas.microsoft.com/office/drawing/2014/main" val="3033518790"/>
                    </a:ext>
                  </a:extLst>
                </a:gridCol>
              </a:tblGrid>
              <a:tr h="4133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데이터 타입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정의</a:t>
                      </a:r>
                      <a:endParaRPr lang="en-US" altLang="ko-KR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실제 </a:t>
                      </a: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관측값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범위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고유값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개수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13401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has_superstructure_adobe_mud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흙벽돌·진흙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57159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has_superstructure_mud_mortar_stone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진흙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모르타르·석재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39417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has_superstructure_stone_flag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석재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2058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has_superstructure_cement_mortar_stone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시멘트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모르타르·석재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52571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has_superstructure_mud_mortar_brick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진흙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모르타르·벽돌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96813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has_superstructure_cement_mortar_brick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시멘트 모르타르·벽돌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54996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has_superstructure_timber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목재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52512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has_superstructure_bamboo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대나무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4077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has_superstructure_rc_non_engineered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비공학적 설계 철근콘크리트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93557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has_superstructure_rc_engineered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공학적 설계 철근콘크리트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669723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has_superstructure_other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상부 구조에 기타 재료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83431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legal_ownership_status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object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/ 명목형 문자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건물이 세워진 토지의 법적 소유 상태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282360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count_families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수치형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건물에 거주하는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가족·가구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0, 1, 2, 3, 4, 5, 6, 7, 8, 9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275348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has_secondary_use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건물이 추가 용도로 사용되는지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99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81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828C-CEE7-014A-74CA-75FC901A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72F563C-7145-1C89-2A48-17867618485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4F7C26-F329-10B0-7224-3BB689A62ED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B9D84-AFB9-0233-A215-B3CBD4478172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구조 파악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8D76A9-32C2-39BF-F43F-C817F50430D1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33EBAAC-A461-0C77-B50C-9F52C2D9DA08}"/>
              </a:ext>
            </a:extLst>
          </p:cNvPr>
          <p:cNvSpPr txBox="1"/>
          <p:nvPr/>
        </p:nvSpPr>
        <p:spPr>
          <a:xfrm>
            <a:off x="512875" y="785275"/>
            <a:ext cx="10941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1-2)</a:t>
            </a:r>
          </a:p>
          <a:p>
            <a:pPr fontAlgn="base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데이터 개요</a:t>
            </a:r>
            <a:endParaRPr lang="en-US" altLang="ko-KR" sz="1600" b="1" dirty="0"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4A1C47E-5616-F237-0302-6D182B5C9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538231"/>
              </p:ext>
            </p:extLst>
          </p:nvPr>
        </p:nvGraphicFramePr>
        <p:xfrm>
          <a:off x="439232" y="1544055"/>
          <a:ext cx="11637048" cy="35882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2425">
                  <a:extLst>
                    <a:ext uri="{9D8B030D-6E8A-4147-A177-3AD203B41FA5}">
                      <a16:colId xmlns:a16="http://schemas.microsoft.com/office/drawing/2014/main" val="2223961521"/>
                    </a:ext>
                  </a:extLst>
                </a:gridCol>
                <a:gridCol w="1657173">
                  <a:extLst>
                    <a:ext uri="{9D8B030D-6E8A-4147-A177-3AD203B41FA5}">
                      <a16:colId xmlns:a16="http://schemas.microsoft.com/office/drawing/2014/main" val="365465296"/>
                    </a:ext>
                  </a:extLst>
                </a:gridCol>
                <a:gridCol w="3497043">
                  <a:extLst>
                    <a:ext uri="{9D8B030D-6E8A-4147-A177-3AD203B41FA5}">
                      <a16:colId xmlns:a16="http://schemas.microsoft.com/office/drawing/2014/main" val="2181620687"/>
                    </a:ext>
                  </a:extLst>
                </a:gridCol>
                <a:gridCol w="2132284">
                  <a:extLst>
                    <a:ext uri="{9D8B030D-6E8A-4147-A177-3AD203B41FA5}">
                      <a16:colId xmlns:a16="http://schemas.microsoft.com/office/drawing/2014/main" val="2649122956"/>
                    </a:ext>
                  </a:extLst>
                </a:gridCol>
                <a:gridCol w="1458123">
                  <a:extLst>
                    <a:ext uri="{9D8B030D-6E8A-4147-A177-3AD203B41FA5}">
                      <a16:colId xmlns:a16="http://schemas.microsoft.com/office/drawing/2014/main" val="3033518790"/>
                    </a:ext>
                  </a:extLst>
                </a:gridCol>
              </a:tblGrid>
              <a:tr h="4133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데이터 타입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정의</a:t>
                      </a:r>
                      <a:endParaRPr lang="en-US" altLang="ko-KR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실제 </a:t>
                      </a: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관측값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범위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고유값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개수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13401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has_secondary_use_agriculture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농업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57159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has_secondary_use_hotel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호텔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39417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has_secondary_use_rental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임대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2058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has_secondary_use_institution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기관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52571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has_secondary_use_school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학교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96813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has_secondary_use_industry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산업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54996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has_secondary_use_health_post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보건소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52512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has_secondary_use_gov_office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정부 사무소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4077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has_secondary_use_use_police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경찰서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93557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has_secondary_use_other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int64 / 이진형 정수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기타 목적의 부가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669723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damage_grade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A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int64 / 순서형 타깃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A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지진으로 발생한 건물 손상 수준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A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1, 2, 3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A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834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3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3CFF2-3404-DE2D-C4F4-A5B629DB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063D00F-2AAA-0279-3FC1-143C7C39C1C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E79FE91-2E61-073B-4D22-B9D579294BCA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93D02-FD66-E98C-09F2-D86AA93C2E61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구조 파악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F2A06D9-FF73-AB92-0513-95D96A735486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4A8AB4-86B3-91AD-3D81-37D8A3A2CBF9}"/>
              </a:ext>
            </a:extLst>
          </p:cNvPr>
          <p:cNvSpPr txBox="1"/>
          <p:nvPr/>
        </p:nvSpPr>
        <p:spPr>
          <a:xfrm>
            <a:off x="512875" y="785275"/>
            <a:ext cx="10941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1-3)</a:t>
            </a:r>
          </a:p>
          <a:p>
            <a:pPr fontAlgn="base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데이터 이상치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결측치</a:t>
            </a:r>
            <a:r>
              <a:rPr lang="ko-KR" altLang="en-US" sz="1600" b="1" dirty="0">
                <a:latin typeface="+mn-ea"/>
              </a:rPr>
              <a:t> 파악</a:t>
            </a:r>
            <a:endParaRPr lang="en-US" altLang="ko-KR" sz="1600" b="1" dirty="0"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4178C21-1A7C-878F-2B42-1785CBDB8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98371"/>
              </p:ext>
            </p:extLst>
          </p:nvPr>
        </p:nvGraphicFramePr>
        <p:xfrm>
          <a:off x="512875" y="1544054"/>
          <a:ext cx="11278175" cy="4742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219">
                  <a:extLst>
                    <a:ext uri="{9D8B030D-6E8A-4147-A177-3AD203B41FA5}">
                      <a16:colId xmlns:a16="http://schemas.microsoft.com/office/drawing/2014/main" val="222396152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65465296"/>
                    </a:ext>
                  </a:extLst>
                </a:gridCol>
                <a:gridCol w="1694637">
                  <a:extLst>
                    <a:ext uri="{9D8B030D-6E8A-4147-A177-3AD203B41FA5}">
                      <a16:colId xmlns:a16="http://schemas.microsoft.com/office/drawing/2014/main" val="2181620687"/>
                    </a:ext>
                  </a:extLst>
                </a:gridCol>
                <a:gridCol w="2498845">
                  <a:extLst>
                    <a:ext uri="{9D8B030D-6E8A-4147-A177-3AD203B41FA5}">
                      <a16:colId xmlns:a16="http://schemas.microsoft.com/office/drawing/2014/main" val="2649122956"/>
                    </a:ext>
                  </a:extLst>
                </a:gridCol>
                <a:gridCol w="2684674">
                  <a:extLst>
                    <a:ext uri="{9D8B030D-6E8A-4147-A177-3AD203B41FA5}">
                      <a16:colId xmlns:a16="http://schemas.microsoft.com/office/drawing/2014/main" val="54672321"/>
                    </a:ext>
                  </a:extLst>
                </a:gridCol>
              </a:tblGrid>
              <a:tr h="4133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한글 </a:t>
                      </a: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결측치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개수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비율</a:t>
                      </a:r>
                      <a:endParaRPr lang="en-US" altLang="ko-KR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이상치 개수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비고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13401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building_id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건물별 고유 무작위 ID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(0%)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범주형 변수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식별번호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57159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geo_level_1_id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가장 넓은 지리 구역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39417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geo_level_2_id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2단계 지리 구역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2058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geo_level_3_id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가장 세부적인 지리 구역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 dirty="0"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52571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count_floors_pre_eq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지진 발생 전 건물 층수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103,978 (39.90%)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96813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age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건물의 경과 연수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12499 (4.80%)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54996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area_percentage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건물 바닥 점유면적의 정규화 값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13557 (5.20%)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52512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height_percentage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건물</a:t>
                      </a: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높이</a:t>
                      </a: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</a:t>
                      </a: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정규화</a:t>
                      </a: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</a:t>
                      </a:r>
                      <a:endParaRPr lang="ko-KR" sz="1100" b="0" i="0" u="none" strike="noStrike">
                        <a:solidFill>
                          <a:srgbClr val="172B4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7,843(3.01%)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4077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land_surface_condition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건물이 위치한 지면 상태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범주형 변수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93557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foundation_type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건물 기초의 종류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669723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roof_type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건물 지붕의 종류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83431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ground_floor_type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지상 최하층의 바닥 종류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282360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other_floor_type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지상 최하층 위 층의 구조 종류. 지붕 제외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275348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position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건물의 위치를 나타내는 범주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99629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plan_configuration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건물 평면의 구성 유형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  <a:endParaRPr dirty="0"/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59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831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523EA-E411-1402-610C-AA9096F78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6CA74AD-2194-A317-2CEA-EC294233348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FB4B9E-3968-85B1-CD12-1B67024B90D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05CAE-AF46-9D71-439A-71E7EF820887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구조 파악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2ED7018-9AD9-6793-C21F-6768E79CFE47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959DBD5-5C06-F809-B170-D70364552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038708"/>
              </p:ext>
            </p:extLst>
          </p:nvPr>
        </p:nvGraphicFramePr>
        <p:xfrm>
          <a:off x="439232" y="1544055"/>
          <a:ext cx="10960152" cy="44541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5850">
                  <a:extLst>
                    <a:ext uri="{9D8B030D-6E8A-4147-A177-3AD203B41FA5}">
                      <a16:colId xmlns:a16="http://schemas.microsoft.com/office/drawing/2014/main" val="2223961521"/>
                    </a:ext>
                  </a:extLst>
                </a:gridCol>
                <a:gridCol w="3277111">
                  <a:extLst>
                    <a:ext uri="{9D8B030D-6E8A-4147-A177-3AD203B41FA5}">
                      <a16:colId xmlns:a16="http://schemas.microsoft.com/office/drawing/2014/main" val="365465296"/>
                    </a:ext>
                  </a:extLst>
                </a:gridCol>
                <a:gridCol w="2117235">
                  <a:extLst>
                    <a:ext uri="{9D8B030D-6E8A-4147-A177-3AD203B41FA5}">
                      <a16:colId xmlns:a16="http://schemas.microsoft.com/office/drawing/2014/main" val="2181620687"/>
                    </a:ext>
                  </a:extLst>
                </a:gridCol>
                <a:gridCol w="2549956">
                  <a:extLst>
                    <a:ext uri="{9D8B030D-6E8A-4147-A177-3AD203B41FA5}">
                      <a16:colId xmlns:a16="http://schemas.microsoft.com/office/drawing/2014/main" val="2649122956"/>
                    </a:ext>
                  </a:extLst>
                </a:gridCol>
              </a:tblGrid>
              <a:tr h="4133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한글 </a:t>
                      </a: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결측치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개수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비율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이상치 개수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(IQR 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기준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13401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has_superstructure_adobe_mud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흙벽돌·진흙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 (0%)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범주형 변수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(0/1)</a:t>
                      </a:r>
                      <a:endParaRPr lang="ko-KR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57159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has_superstructure_mud_mortar_stone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진흙 모르타르·석재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39417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has_superstructure_stone_flag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석재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2058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has_superstructure_cement_mortar_stone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시멘트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모르타르·석재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52571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has_superstructure_mud_mortar_brick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진흙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모르타르·벽돌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96813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has_superstructure_cement_mortar_brick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시멘트 </a:t>
                      </a:r>
                      <a:r>
                        <a:rPr 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모르타르·벽돌</a:t>
                      </a: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54996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has_superstructure_timber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목재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52512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has_superstructure_bamboo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대나무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4077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has_superstructure_rc_non_engineered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비공학적 설계 철근콘크리트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93557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has_superstructure_rc_engineered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공학적 설계 철근콘크리트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669723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has_superstructure_other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기타 재료 사용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83431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legal_ownership_status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토지 법적 소유 상태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282360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count_families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거주 가구 수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3,4486(13.23%)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275348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has_secondary_use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부가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범주형 변수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(0/1)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996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AF76283-2F02-B1C9-1F38-0E859B89EE61}"/>
              </a:ext>
            </a:extLst>
          </p:cNvPr>
          <p:cNvSpPr txBox="1"/>
          <p:nvPr/>
        </p:nvSpPr>
        <p:spPr>
          <a:xfrm>
            <a:off x="512875" y="785275"/>
            <a:ext cx="10941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1-3)</a:t>
            </a:r>
          </a:p>
          <a:p>
            <a:pPr fontAlgn="base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데이터 이상치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결측치</a:t>
            </a:r>
            <a:r>
              <a:rPr lang="ko-KR" altLang="en-US" sz="1600" b="1" dirty="0">
                <a:latin typeface="+mn-ea"/>
              </a:rPr>
              <a:t> 파악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67547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9586-0D02-2D87-6B40-F8124AA2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DBD1FCD-68A8-7E91-17D4-6DF204E26BD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2AB910-3A5C-367C-B72B-CC6D51C42F1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DBE6E-0D80-7994-05E8-D608C33E1845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구조 파악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5EAB825-F8BA-BC9D-0787-036039CC0C47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4AE1084-0E2B-7ED6-FF21-D9AB728DE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771778"/>
              </p:ext>
            </p:extLst>
          </p:nvPr>
        </p:nvGraphicFramePr>
        <p:xfrm>
          <a:off x="439232" y="1544055"/>
          <a:ext cx="10178925" cy="35882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2425">
                  <a:extLst>
                    <a:ext uri="{9D8B030D-6E8A-4147-A177-3AD203B41FA5}">
                      <a16:colId xmlns:a16="http://schemas.microsoft.com/office/drawing/2014/main" val="2223961521"/>
                    </a:ext>
                  </a:extLst>
                </a:gridCol>
                <a:gridCol w="1657173">
                  <a:extLst>
                    <a:ext uri="{9D8B030D-6E8A-4147-A177-3AD203B41FA5}">
                      <a16:colId xmlns:a16="http://schemas.microsoft.com/office/drawing/2014/main" val="365465296"/>
                    </a:ext>
                  </a:extLst>
                </a:gridCol>
                <a:gridCol w="3497043">
                  <a:extLst>
                    <a:ext uri="{9D8B030D-6E8A-4147-A177-3AD203B41FA5}">
                      <a16:colId xmlns:a16="http://schemas.microsoft.com/office/drawing/2014/main" val="2181620687"/>
                    </a:ext>
                  </a:extLst>
                </a:gridCol>
                <a:gridCol w="2132284">
                  <a:extLst>
                    <a:ext uri="{9D8B030D-6E8A-4147-A177-3AD203B41FA5}">
                      <a16:colId xmlns:a16="http://schemas.microsoft.com/office/drawing/2014/main" val="2649122956"/>
                    </a:ext>
                  </a:extLst>
                </a:gridCol>
              </a:tblGrid>
              <a:tr h="4133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한글 </a:t>
                      </a: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컬럼명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결측치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개수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비율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이상치 개수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(IQR </a:t>
                      </a: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13401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has_secondary_use_agriculture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농업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(0%)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범주형 변수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(0/1)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57159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has_secondary_use_hotel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호텔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39417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has_secondary_use_rental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임대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2058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has_secondary_use_institution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기관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52571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has_secondary_use_school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학교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96813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has_secondary_use_industry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산업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54996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has_secondary_use_health_post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보건소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525126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has_secondary_use_gov_office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정부 사무소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40775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has_secondary_use_use_police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경찰서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935572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has_secondary_use_other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172B4D"/>
                          </a:solidFill>
                          <a:effectLst/>
                          <a:latin typeface="Arial" panose="020B0604020202020204" pitchFamily="34" charset="0"/>
                        </a:rPr>
                        <a:t>기타 용도 여부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669723"/>
                  </a:ext>
                </a:extLst>
              </a:tr>
              <a:tr h="2886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damage_grade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A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rlito"/>
                        </a:rPr>
                        <a:t>건물 손상 등급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AC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A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종속변수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8343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6671A6-75D6-E269-628F-DC92215678D1}"/>
              </a:ext>
            </a:extLst>
          </p:cNvPr>
          <p:cNvSpPr txBox="1"/>
          <p:nvPr/>
        </p:nvSpPr>
        <p:spPr>
          <a:xfrm>
            <a:off x="512875" y="785275"/>
            <a:ext cx="10941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1-3)</a:t>
            </a:r>
          </a:p>
          <a:p>
            <a:pPr fontAlgn="base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데이터 이상치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결측치</a:t>
            </a:r>
            <a:r>
              <a:rPr lang="ko-KR" altLang="en-US" sz="1600" b="1" dirty="0">
                <a:latin typeface="+mn-ea"/>
              </a:rPr>
              <a:t> 파악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0210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C66B-E781-11F1-85F0-3D8965C8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E104D07-1854-F250-F902-A089A59B5AA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8E26FE6-6248-2EF3-8950-271F88952A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1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9E827F-BBC8-985B-BB16-5C1935E2CEBF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구조 파악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0E633B3-5B2E-C84C-73D4-3A8394B303E5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9C294D-7A00-A8A6-ABFF-331060E69861}"/>
              </a:ext>
            </a:extLst>
          </p:cNvPr>
          <p:cNvSpPr txBox="1"/>
          <p:nvPr/>
        </p:nvSpPr>
        <p:spPr>
          <a:xfrm>
            <a:off x="512875" y="785275"/>
            <a:ext cx="1094139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1-4)</a:t>
            </a:r>
          </a:p>
          <a:p>
            <a:pPr fontAlgn="base">
              <a:lnSpc>
                <a:spcPct val="100000"/>
              </a:lnSpc>
            </a:pP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타깃 분류</a:t>
            </a:r>
            <a:r>
              <a:rPr lang="en-US" altLang="ko-KR" sz="1600" dirty="0">
                <a:latin typeface="+mn-ea"/>
              </a:rPr>
              <a:t>(X, Y)</a:t>
            </a: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설명 변수 </a:t>
            </a:r>
            <a:r>
              <a:rPr lang="en-US" altLang="ko-KR" sz="1600" dirty="0">
                <a:latin typeface="+mn-ea"/>
              </a:rPr>
              <a:t>X: </a:t>
            </a: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종속변수 </a:t>
            </a:r>
            <a:r>
              <a:rPr lang="en-US" altLang="ko-KR" sz="1600" dirty="0">
                <a:latin typeface="+mn-ea"/>
              </a:rPr>
              <a:t>Y: </a:t>
            </a:r>
            <a:r>
              <a:rPr lang="en-US" altLang="ko-KR" sz="1600" b="1" dirty="0" err="1">
                <a:latin typeface="+mn-ea"/>
              </a:rPr>
              <a:t>damage_grade</a:t>
            </a:r>
            <a:r>
              <a:rPr lang="en-US" altLang="ko-KR" sz="1600" b="1" dirty="0">
                <a:latin typeface="+mn-ea"/>
              </a:rPr>
              <a:t> (1, 2, 3)</a:t>
            </a: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종속변수 분포 및 클래스 불균형 여부</a:t>
            </a: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데이터 누수 가능성</a:t>
            </a:r>
            <a:endParaRPr lang="en-US" altLang="ko-KR" sz="16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EF163A-1B42-8E23-3EDE-3B7EE1F5A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352990"/>
              </p:ext>
            </p:extLst>
          </p:nvPr>
        </p:nvGraphicFramePr>
        <p:xfrm>
          <a:off x="881375" y="3220822"/>
          <a:ext cx="7848600" cy="12192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82900">
                  <a:extLst>
                    <a:ext uri="{9D8B030D-6E8A-4147-A177-3AD203B41FA5}">
                      <a16:colId xmlns:a16="http://schemas.microsoft.com/office/drawing/2014/main" val="388520898"/>
                    </a:ext>
                  </a:extLst>
                </a:gridCol>
                <a:gridCol w="697261">
                  <a:extLst>
                    <a:ext uri="{9D8B030D-6E8A-4147-A177-3AD203B41FA5}">
                      <a16:colId xmlns:a16="http://schemas.microsoft.com/office/drawing/2014/main" val="4263121696"/>
                    </a:ext>
                  </a:extLst>
                </a:gridCol>
                <a:gridCol w="1282614">
                  <a:extLst>
                    <a:ext uri="{9D8B030D-6E8A-4147-A177-3AD203B41FA5}">
                      <a16:colId xmlns:a16="http://schemas.microsoft.com/office/drawing/2014/main" val="1386557605"/>
                    </a:ext>
                  </a:extLst>
                </a:gridCol>
                <a:gridCol w="2985825">
                  <a:extLst>
                    <a:ext uri="{9D8B030D-6E8A-4147-A177-3AD203B41FA5}">
                      <a16:colId xmlns:a16="http://schemas.microsoft.com/office/drawing/2014/main" val="259290294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종속변수명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라벨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개수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비율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7903929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damage_grade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25,124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9.64%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723270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damage_grade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148,259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56.89%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2695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damage_grade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solidFill>
                            <a:schemeClr val="tx1"/>
                          </a:solidFill>
                          <a:effectLst/>
                        </a:rPr>
                        <a:t>87,218</a:t>
                      </a:r>
                      <a:endParaRPr lang="ko-K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33.47%</a:t>
                      </a: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7985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323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E0FA-56AC-B005-CFE8-AF1E70C5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AC703A9-53D0-EF91-27F7-05B4D995146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2F0680A-08F6-DA73-7A4B-409A5F976EC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2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E6E9A-5474-03D7-C446-6825144029A9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</a:t>
            </a:r>
            <a:r>
              <a:rPr lang="ko-KR" altLang="en-US" sz="2800" b="1" dirty="0" err="1">
                <a:solidFill>
                  <a:srgbClr val="224D60"/>
                </a:solidFill>
              </a:rPr>
              <a:t>전처리</a:t>
            </a:r>
            <a:endParaRPr lang="ko-KR" altLang="en-US" sz="2800" b="1" dirty="0">
              <a:solidFill>
                <a:srgbClr val="224D6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AF329F-1A53-FD19-7CF0-9BB9F907DFC5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5504E3F-BCF1-A389-C37A-0ACC79A7CADB}"/>
              </a:ext>
            </a:extLst>
          </p:cNvPr>
          <p:cNvSpPr txBox="1"/>
          <p:nvPr/>
        </p:nvSpPr>
        <p:spPr>
          <a:xfrm>
            <a:off x="512875" y="785275"/>
            <a:ext cx="109413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0000"/>
              </a:lnSpc>
            </a:pPr>
            <a:endParaRPr lang="en-US" altLang="ko-KR" sz="1600" b="1" dirty="0">
              <a:latin typeface="+mn-ea"/>
            </a:endParaRPr>
          </a:p>
          <a:p>
            <a:pPr fontAlgn="base">
              <a:lnSpc>
                <a:spcPct val="100000"/>
              </a:lnSpc>
            </a:pP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 err="1">
                <a:latin typeface="+mn-ea"/>
              </a:rPr>
              <a:t>결측치</a:t>
            </a:r>
            <a:r>
              <a:rPr lang="ko-KR" altLang="en-US" sz="1600" dirty="0">
                <a:latin typeface="+mn-ea"/>
              </a:rPr>
              <a:t> 처리</a:t>
            </a: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 : </a:t>
            </a:r>
            <a:r>
              <a:rPr lang="ko-KR" altLang="en-US" sz="1600" dirty="0">
                <a:latin typeface="+mn-ea"/>
              </a:rPr>
              <a:t>원 데이터에서 </a:t>
            </a:r>
            <a:r>
              <a:rPr lang="ko-KR" altLang="en-US" sz="1600" dirty="0" err="1">
                <a:latin typeface="+mn-ea"/>
              </a:rPr>
              <a:t>결측치는</a:t>
            </a:r>
            <a:r>
              <a:rPr lang="ko-KR" altLang="en-US" sz="1600" dirty="0">
                <a:latin typeface="+mn-ea"/>
              </a:rPr>
              <a:t> 존재하지 않았으므로 </a:t>
            </a:r>
            <a:r>
              <a:rPr lang="ko-KR" altLang="en-US" sz="1600" dirty="0" err="1">
                <a:latin typeface="+mn-ea"/>
              </a:rPr>
              <a:t>결측치는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처리하지않음</a:t>
            </a: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이상치 처리</a:t>
            </a: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	1) </a:t>
            </a:r>
            <a:r>
              <a:rPr lang="ko-KR" altLang="en-US" sz="1600" dirty="0">
                <a:latin typeface="+mn-ea"/>
              </a:rPr>
              <a:t>건물번호는 같지만 건물번호를 제외한 컬럼의 값이 같은 경우 처리</a:t>
            </a: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	2) IQR</a:t>
            </a:r>
            <a:r>
              <a:rPr lang="ko-KR" altLang="en-US" sz="1600" dirty="0">
                <a:latin typeface="+mn-ea"/>
              </a:rPr>
              <a:t>을 기준으로 </a:t>
            </a:r>
            <a:r>
              <a:rPr lang="en-US" altLang="ko-KR" sz="1600" dirty="0">
                <a:latin typeface="+mn-ea"/>
              </a:rPr>
              <a:t>Q1-1.5xIQR </a:t>
            </a:r>
            <a:r>
              <a:rPr lang="ko-KR" altLang="en-US" sz="1600" dirty="0">
                <a:latin typeface="+mn-ea"/>
              </a:rPr>
              <a:t>미만 </a:t>
            </a:r>
            <a:r>
              <a:rPr lang="en-US" altLang="ko-KR" sz="1600" dirty="0">
                <a:latin typeface="+mn-ea"/>
              </a:rPr>
              <a:t>/ Q3+1.5xIQR </a:t>
            </a:r>
            <a:r>
              <a:rPr lang="ko-KR" altLang="en-US" sz="1600" dirty="0">
                <a:latin typeface="+mn-ea"/>
              </a:rPr>
              <a:t>초과 값 처리</a:t>
            </a: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	: </a:t>
            </a:r>
            <a:r>
              <a:rPr lang="ko-KR" altLang="en-US" sz="1600" dirty="0">
                <a:latin typeface="+mn-ea"/>
              </a:rPr>
              <a:t>원 </a:t>
            </a:r>
            <a:r>
              <a:rPr lang="ko-KR" altLang="en-US" sz="1600" dirty="0" err="1">
                <a:latin typeface="+mn-ea"/>
              </a:rPr>
              <a:t>실측값을</a:t>
            </a:r>
            <a:r>
              <a:rPr lang="ko-KR" altLang="en-US" sz="1600" dirty="0">
                <a:latin typeface="+mn-ea"/>
              </a:rPr>
              <a:t> 파악한 결과 </a:t>
            </a:r>
            <a:r>
              <a:rPr lang="ko-KR" altLang="en-US" sz="1600" dirty="0" err="1">
                <a:latin typeface="+mn-ea"/>
              </a:rPr>
              <a:t>특이값의</a:t>
            </a:r>
            <a:r>
              <a:rPr lang="ko-KR" altLang="en-US" sz="1600" dirty="0">
                <a:latin typeface="+mn-ea"/>
              </a:rPr>
              <a:t> 특성을 </a:t>
            </a:r>
            <a:r>
              <a:rPr lang="ko-KR" altLang="en-US" sz="1600" dirty="0" err="1">
                <a:latin typeface="+mn-ea"/>
              </a:rPr>
              <a:t>반영해야한다고</a:t>
            </a:r>
            <a:r>
              <a:rPr lang="ko-KR" altLang="en-US" sz="1600" dirty="0">
                <a:latin typeface="+mn-ea"/>
              </a:rPr>
              <a:t> 파악</a:t>
            </a: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- </a:t>
            </a:r>
          </a:p>
          <a:p>
            <a:pPr fontAlgn="base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fontAlgn="base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최종 처리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3733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6536A-DF30-CDDC-1FF7-99845E10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0D70582-82A6-BB11-7D60-D44D7958A3E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95ECF2C-7206-ABB5-5276-AC5A9916240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2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BA7DC-F5C2-8132-6C66-09C9089DF2E5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</a:t>
            </a:r>
            <a:r>
              <a:rPr lang="ko-KR" altLang="en-US" sz="2800" b="1" dirty="0" err="1">
                <a:solidFill>
                  <a:srgbClr val="224D60"/>
                </a:solidFill>
              </a:rPr>
              <a:t>전처리</a:t>
            </a:r>
            <a:endParaRPr lang="ko-KR" altLang="en-US" sz="2800" b="1" dirty="0">
              <a:solidFill>
                <a:srgbClr val="224D6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FBDC489-EA53-B076-20F3-CC0CA6342D1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CAD7E2-F791-7D61-2CAB-21EFB9EED266}"/>
              </a:ext>
            </a:extLst>
          </p:cNvPr>
          <p:cNvSpPr txBox="1"/>
          <p:nvPr/>
        </p:nvSpPr>
        <p:spPr>
          <a:xfrm>
            <a:off x="512876" y="1366897"/>
            <a:ext cx="1094139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+mn-ea"/>
              </a:rPr>
              <a:t>종속변수 준비</a:t>
            </a:r>
            <a:endParaRPr lang="en-US" altLang="ko-KR" sz="1600" b="1" dirty="0">
              <a:latin typeface="+mn-ea"/>
            </a:endParaRPr>
          </a:p>
          <a:p>
            <a:pPr fontAlgn="base">
              <a:lnSpc>
                <a:spcPct val="100000"/>
              </a:lnSpc>
            </a:pPr>
            <a:r>
              <a:rPr lang="en-US" altLang="ko-KR" sz="1600" b="1" dirty="0">
                <a:latin typeface="+mn-ea"/>
              </a:rPr>
              <a:t>	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타깃 정의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타깃변수는 건물 손상 등급</a:t>
            </a:r>
            <a:r>
              <a:rPr lang="en-US" altLang="ko-KR" sz="1600" dirty="0">
                <a:latin typeface="+mn-ea"/>
              </a:rPr>
              <a:t>(</a:t>
            </a:r>
            <a:r>
              <a:rPr lang="en-US" altLang="ko-KR" sz="1600" dirty="0" err="1">
                <a:latin typeface="+mn-ea"/>
              </a:rPr>
              <a:t>damage_grade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fontAlgn="base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클래스 불균형 처리</a:t>
            </a: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범주형 변수 인코딩</a:t>
            </a: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수치형 변수 스케일링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3947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BEE2-FBF1-4234-F792-87EBDE66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AD0B29D-7057-2C1E-94F6-8311F41756F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954A5A-03E0-5C6E-0536-CB35CBD2F39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2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4B93B-0A26-75A6-8DA8-280D778072D2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</a:t>
            </a:r>
            <a:r>
              <a:rPr lang="ko-KR" altLang="en-US" sz="2800" b="1" dirty="0" err="1">
                <a:solidFill>
                  <a:srgbClr val="224D60"/>
                </a:solidFill>
              </a:rPr>
              <a:t>전처리</a:t>
            </a:r>
            <a:endParaRPr lang="ko-KR" altLang="en-US" sz="2800" b="1" dirty="0">
              <a:solidFill>
                <a:srgbClr val="224D6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7E30F8E-CAEE-1E24-563F-3F2169AED7C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000E13-540C-319D-F508-846AE1C67FF2}"/>
              </a:ext>
            </a:extLst>
          </p:cNvPr>
          <p:cNvSpPr txBox="1"/>
          <p:nvPr/>
        </p:nvSpPr>
        <p:spPr>
          <a:xfrm>
            <a:off x="512876" y="1366897"/>
            <a:ext cx="10941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+mn-ea"/>
              </a:rPr>
              <a:t>피처 엔지니어링</a:t>
            </a: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b="1" dirty="0">
              <a:latin typeface="+mn-ea"/>
            </a:endParaRPr>
          </a:p>
          <a:p>
            <a:pPr fontAlgn="base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1B0F96B-684F-332A-FD09-2132C13F6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0775"/>
              </p:ext>
            </p:extLst>
          </p:nvPr>
        </p:nvGraphicFramePr>
        <p:xfrm>
          <a:off x="764773" y="2197894"/>
          <a:ext cx="7848600" cy="12192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82900">
                  <a:extLst>
                    <a:ext uri="{9D8B030D-6E8A-4147-A177-3AD203B41FA5}">
                      <a16:colId xmlns:a16="http://schemas.microsoft.com/office/drawing/2014/main" val="388520898"/>
                    </a:ext>
                  </a:extLst>
                </a:gridCol>
                <a:gridCol w="697261">
                  <a:extLst>
                    <a:ext uri="{9D8B030D-6E8A-4147-A177-3AD203B41FA5}">
                      <a16:colId xmlns:a16="http://schemas.microsoft.com/office/drawing/2014/main" val="4263121696"/>
                    </a:ext>
                  </a:extLst>
                </a:gridCol>
                <a:gridCol w="1282614">
                  <a:extLst>
                    <a:ext uri="{9D8B030D-6E8A-4147-A177-3AD203B41FA5}">
                      <a16:colId xmlns:a16="http://schemas.microsoft.com/office/drawing/2014/main" val="1386557605"/>
                    </a:ext>
                  </a:extLst>
                </a:gridCol>
                <a:gridCol w="2985825">
                  <a:extLst>
                    <a:ext uri="{9D8B030D-6E8A-4147-A177-3AD203B41FA5}">
                      <a16:colId xmlns:a16="http://schemas.microsoft.com/office/drawing/2014/main" val="259290294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변수명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7903929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723270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2695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7985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58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2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1513D-A19C-B4DC-FC3E-718C1761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12091B9-4E46-D9BE-D93C-6537C740C29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BBE2FDD-5C8E-975A-60AF-8879E7C906D6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611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EE996-DF72-DB70-615D-E51224589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C639759-A6F3-6F0D-E392-E5ED8A29980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20267F9-AB17-9DFB-E06C-334C2726E7F3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224D60"/>
                </a:solidFill>
              </a:rPr>
              <a:t>Part 2</a:t>
            </a:r>
            <a:endParaRPr lang="ko-KR" altLang="en-US" sz="1600" dirty="0">
              <a:solidFill>
                <a:srgbClr val="224D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01CEF-7D33-54BF-A4EE-EC08B8D1F516}"/>
              </a:ext>
            </a:extLst>
          </p:cNvPr>
          <p:cNvSpPr txBox="1"/>
          <p:nvPr/>
        </p:nvSpPr>
        <p:spPr>
          <a:xfrm>
            <a:off x="1163052" y="272716"/>
            <a:ext cx="304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224D60"/>
                </a:solidFill>
              </a:rPr>
              <a:t>데이터 </a:t>
            </a:r>
            <a:r>
              <a:rPr lang="ko-KR" altLang="en-US" sz="2800" b="1" dirty="0" err="1">
                <a:solidFill>
                  <a:srgbClr val="224D60"/>
                </a:solidFill>
              </a:rPr>
              <a:t>전처리</a:t>
            </a:r>
            <a:endParaRPr lang="ko-KR" altLang="en-US" sz="2800" b="1" dirty="0">
              <a:solidFill>
                <a:srgbClr val="224D6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117ACED-8E2F-B880-5865-8626C085F908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256B77-1674-8D1F-3022-5A92E0C4D592}"/>
              </a:ext>
            </a:extLst>
          </p:cNvPr>
          <p:cNvSpPr txBox="1"/>
          <p:nvPr/>
        </p:nvSpPr>
        <p:spPr>
          <a:xfrm>
            <a:off x="512876" y="1366897"/>
            <a:ext cx="10941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+mn-ea"/>
              </a:rPr>
              <a:t>피처 엔지니어링</a:t>
            </a:r>
            <a:endParaRPr lang="en-US" altLang="ko-KR" sz="1600" b="1" dirty="0">
              <a:latin typeface="+mn-ea"/>
            </a:endParaRPr>
          </a:p>
          <a:p>
            <a:pPr marL="285750" indent="-285750" fontAlgn="base">
              <a:lnSpc>
                <a:spcPct val="100000"/>
              </a:lnSpc>
              <a:buFontTx/>
              <a:buChar char="-"/>
            </a:pPr>
            <a:endParaRPr lang="en-US" altLang="ko-KR" sz="1600" b="1" dirty="0">
              <a:latin typeface="+mn-ea"/>
            </a:endParaRPr>
          </a:p>
          <a:p>
            <a:pPr fontAlgn="base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D5EC2D1-F318-BB35-F1CE-1556FD10F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421348"/>
              </p:ext>
            </p:extLst>
          </p:nvPr>
        </p:nvGraphicFramePr>
        <p:xfrm>
          <a:off x="764773" y="2197894"/>
          <a:ext cx="7848600" cy="125309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82900">
                  <a:extLst>
                    <a:ext uri="{9D8B030D-6E8A-4147-A177-3AD203B41FA5}">
                      <a16:colId xmlns:a16="http://schemas.microsoft.com/office/drawing/2014/main" val="388520898"/>
                    </a:ext>
                  </a:extLst>
                </a:gridCol>
                <a:gridCol w="697261">
                  <a:extLst>
                    <a:ext uri="{9D8B030D-6E8A-4147-A177-3AD203B41FA5}">
                      <a16:colId xmlns:a16="http://schemas.microsoft.com/office/drawing/2014/main" val="4263121696"/>
                    </a:ext>
                  </a:extLst>
                </a:gridCol>
                <a:gridCol w="1282614">
                  <a:extLst>
                    <a:ext uri="{9D8B030D-6E8A-4147-A177-3AD203B41FA5}">
                      <a16:colId xmlns:a16="http://schemas.microsoft.com/office/drawing/2014/main" val="1386557605"/>
                    </a:ext>
                  </a:extLst>
                </a:gridCol>
                <a:gridCol w="2985825">
                  <a:extLst>
                    <a:ext uri="{9D8B030D-6E8A-4147-A177-3AD203B41FA5}">
                      <a16:colId xmlns:a16="http://schemas.microsoft.com/office/drawing/2014/main" val="259290294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변수명</a:t>
                      </a: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79039292"/>
                  </a:ext>
                </a:extLst>
              </a:tr>
              <a:tr h="3386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723270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2695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7985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5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12672</TotalTime>
  <Words>1899</Words>
  <Application>Microsoft Office PowerPoint</Application>
  <PresentationFormat>와이드스크린</PresentationFormat>
  <Paragraphs>462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Carlito</vt:lpstr>
      <vt:lpstr>맑은 고딕</vt:lpstr>
      <vt:lpstr>맑은고딕</vt:lpstr>
      <vt:lpstr>한양신명조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김세영</dc:creator>
  <cp:lastModifiedBy>김세영</cp:lastModifiedBy>
  <cp:revision>87</cp:revision>
  <dcterms:created xsi:type="dcterms:W3CDTF">2025-11-16T09:59:12Z</dcterms:created>
  <dcterms:modified xsi:type="dcterms:W3CDTF">2026-10-14T11:25:25Z</dcterms:modified>
</cp:coreProperties>
</file>